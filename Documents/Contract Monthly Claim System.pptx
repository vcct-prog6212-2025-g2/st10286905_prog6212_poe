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F786576-DB48-4DA4-A7B0-D1FE9085AE33}">
  <a:tblStyle styleId="{2F786576-DB48-4DA4-A7B0-D1FE9085AE3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Lato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81dcd583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81dcd583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81dcd5830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81dcd5830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81dcd5830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81dcd5830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81dcd5830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81dcd5830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81dcd5830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81dcd5830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81dcd5830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81dcd5830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81dcd5830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81dcd5830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81dcd5830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81dcd5830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Contract Monthly Claim System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Streamlining claim creation, review, and invoice creation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Arial"/>
              <a:buNone/>
            </a:pPr>
            <a:r>
              <a:rPr lang="en-GB"/>
              <a:t>The Challenge Solved: Value at a Glance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Simplified Claim Submission: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Effortless, accurate claims for Lecturers.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Automated Review &amp; Approval: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Expedites the process with configurable business logic.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Robust Security: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Protects sensitive financial and personal data.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Clear Role Separation: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Defines responsibilities for Admin, HR, Lecturers, and Reviewers.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Instant Invoicing: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Generates invoices for approved claims, accelerating payment cycles.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system transforms a manual, error-prone process into a secure, highly efficient, and transparent digital workflow, saving time and improving financial accuracy.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ivate   browser   protection (provided by Getty Images)" id="98" name="Google Shape;9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6333" y="2900396"/>
            <a:ext cx="2294927" cy="229492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Security &amp; Access Control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Cookie-Based Authentication: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Custom, secure session management.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Advanced Password Security: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Passwords are stored securely using </a:t>
            </a: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hashing and salting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(avoiding plain-text storage).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Role-Based Authorisation: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Access to functionality is strictly controlled by assigned user roles (Admin, HR, Lecturer, Reviewer).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Clear Responsibilities: Three Key Roles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561600" y="2395275"/>
            <a:ext cx="85824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 </a:t>
            </a:r>
            <a:endParaRPr/>
          </a:p>
        </p:txBody>
      </p:sp>
      <p:graphicFrame>
        <p:nvGraphicFramePr>
          <p:cNvPr id="107" name="Google Shape;107;p16"/>
          <p:cNvGraphicFramePr/>
          <p:nvPr/>
        </p:nvGraphicFramePr>
        <p:xfrm>
          <a:off x="1573425" y="207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{2F786576-DB48-4DA4-A7B0-D1FE9085AE33}</a:tableStyleId>
              </a:tblPr>
              <a:tblGrid>
                <a:gridCol w="1343025"/>
                <a:gridCol w="1657350"/>
                <a:gridCol w="1457325"/>
                <a:gridCol w="1543050"/>
              </a:tblGrid>
              <a:tr h="314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Admin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HR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Lecturer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Reviewer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Full management access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Manage Users/Roles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Create &amp; Submit Claims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Review Pending Claims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Set user roles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Manage Lecturer/Module Rates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Track Claim Status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Configure Auto Review Rules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Create/Delete Roles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Invoice Generation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Download Supporting Docs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Run Auto Review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Lecturer Dashboard: Fast &amp; Accurate Claims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 rotWithShape="1">
          <a:blip r:embed="rId3">
            <a:alphaModFix/>
          </a:blip>
          <a:srcRect b="3618" l="0" r="0" t="21463"/>
          <a:stretch/>
        </p:blipFill>
        <p:spPr>
          <a:xfrm>
            <a:off x="3666450" y="2078863"/>
            <a:ext cx="5477475" cy="230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450" y="2078875"/>
            <a:ext cx="2937000" cy="27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290274" lvl="0" marL="457200" rtl="0" algn="l"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Roboto"/>
              <a:buChar char="●"/>
            </a:pP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Intuitive Claim Creation: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Simple form to select module and input hours worked.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0274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Roboto"/>
              <a:buChar char="●"/>
            </a:pP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Real-time Calculation: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Hourly rate (assigned by HR) and estimated total payment update instantly.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0274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Roboto"/>
              <a:buChar char="●"/>
            </a:pP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Secure Document Upload: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Attach supporting files (up to 10MB) for validation.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0274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Roboto"/>
              <a:buChar char="●"/>
            </a:pP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Encrypted Storage: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All uploaded documents are </a:t>
            </a: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encrypted at rest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and decrypted securely upon download.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0274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Roboto"/>
              <a:buChar char="●"/>
            </a:pP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Claims Dashboard: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Overview of all personal claims, sorted by review status.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Minimizes input errors and provides immediate payment estimates, speeding up the lecturer's administrative task.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Reviewer Workflow: Dual-Layer Approval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9450" y="2078875"/>
            <a:ext cx="3375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285273" lvl="0" marL="457200" rtl="0" algn="l"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Roboto"/>
              <a:buChar char="●"/>
            </a:pP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Reviewer Dashboards: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Dedicated views for Program Coordinators and Academic Managers.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5273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Roboto"/>
              <a:buChar char="●"/>
            </a:pP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Two-Stage Review Process: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Claims move from </a:t>
            </a:r>
            <a:r>
              <a:rPr lang="en-GB" sz="1050">
                <a:solidFill>
                  <a:srgbClr val="444746"/>
                </a:solidFill>
                <a:highlight>
                  <a:srgbClr val="DDE3EA"/>
                </a:highlight>
                <a:latin typeface="Courier New"/>
                <a:ea typeface="Courier New"/>
                <a:cs typeface="Courier New"/>
                <a:sym typeface="Courier New"/>
              </a:rPr>
              <a:t>PENDING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to </a:t>
            </a:r>
            <a:r>
              <a:rPr lang="en-GB" sz="1050">
                <a:solidFill>
                  <a:srgbClr val="444746"/>
                </a:solidFill>
                <a:highlight>
                  <a:srgbClr val="DDE3EA"/>
                </a:highlight>
                <a:latin typeface="Courier New"/>
                <a:ea typeface="Courier New"/>
                <a:cs typeface="Courier New"/>
                <a:sym typeface="Courier New"/>
              </a:rPr>
              <a:t>PENDING_CONFIRM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after one review, and finally to </a:t>
            </a:r>
            <a:r>
              <a:rPr lang="en-GB" sz="1050">
                <a:solidFill>
                  <a:srgbClr val="444746"/>
                </a:solidFill>
                <a:highlight>
                  <a:srgbClr val="DDE3EA"/>
                </a:highlight>
                <a:latin typeface="Courier New"/>
                <a:ea typeface="Courier New"/>
                <a:cs typeface="Courier New"/>
                <a:sym typeface="Courier New"/>
              </a:rPr>
              <a:t>ACCEPTED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or </a:t>
            </a:r>
            <a:r>
              <a:rPr lang="en-GB" sz="1050">
                <a:solidFill>
                  <a:srgbClr val="444746"/>
                </a:solidFill>
                <a:highlight>
                  <a:srgbClr val="DDE3EA"/>
                </a:highlight>
                <a:latin typeface="Courier New"/>
                <a:ea typeface="Courier New"/>
                <a:cs typeface="Courier New"/>
                <a:sym typeface="Courier New"/>
              </a:rPr>
              <a:t>REJECTED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only after both reviewer types approve or if either rejects.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5273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Roboto"/>
              <a:buChar char="●"/>
            </a:pP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Decision Options: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Program Coordinators (</a:t>
            </a:r>
            <a:r>
              <a:rPr lang="en-GB" sz="1050">
                <a:solidFill>
                  <a:srgbClr val="444746"/>
                </a:solidFill>
                <a:highlight>
                  <a:srgbClr val="DDE3EA"/>
                </a:highlight>
                <a:latin typeface="Courier New"/>
                <a:ea typeface="Courier New"/>
                <a:cs typeface="Courier New"/>
                <a:sym typeface="Courier New"/>
              </a:rPr>
              <a:t>Verify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), Academic Managers (</a:t>
            </a:r>
            <a:r>
              <a:rPr lang="en-GB" sz="1050">
                <a:solidFill>
                  <a:srgbClr val="444746"/>
                </a:solidFill>
                <a:highlight>
                  <a:srgbClr val="DDE3EA"/>
                </a:highlight>
                <a:latin typeface="Courier New"/>
                <a:ea typeface="Courier New"/>
                <a:cs typeface="Courier New"/>
                <a:sym typeface="Courier New"/>
              </a:rPr>
              <a:t>Approve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), or (</a:t>
            </a:r>
            <a:r>
              <a:rPr lang="en-GB" sz="1050">
                <a:solidFill>
                  <a:srgbClr val="444746"/>
                </a:solidFill>
                <a:highlight>
                  <a:srgbClr val="DDE3EA"/>
                </a:highlight>
                <a:latin typeface="Courier New"/>
                <a:ea typeface="Courier New"/>
                <a:cs typeface="Courier New"/>
                <a:sym typeface="Courier New"/>
              </a:rPr>
              <a:t>Reject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5273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Roboto"/>
              <a:buChar char="●"/>
            </a:pP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Real-time Visibility: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Review decisions are immediately visible to the lecturer and other reviewers.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Enforces a necessary, two-step control mechanism for claim validation, ensuring compliance and accuracy.</a:t>
            </a: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 rotWithShape="1">
          <a:blip r:embed="rId3">
            <a:alphaModFix/>
          </a:blip>
          <a:srcRect b="4757" l="0" r="0" t="22604"/>
          <a:stretch/>
        </p:blipFill>
        <p:spPr>
          <a:xfrm>
            <a:off x="4009822" y="2078874"/>
            <a:ext cx="5134179" cy="209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Driving Efficiency with Auto Review Rules</a:t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729450" y="2078875"/>
            <a:ext cx="35001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280273" lvl="0" marL="457200" rtl="0" algn="l"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Roboto"/>
              <a:buChar char="●"/>
            </a:pP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Configurable Rules: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Reviewers can define rules based on claim variables (</a:t>
            </a:r>
            <a:r>
              <a:rPr lang="en-GB" sz="1050">
                <a:solidFill>
                  <a:srgbClr val="444746"/>
                </a:solidFill>
                <a:highlight>
                  <a:srgbClr val="DDE3EA"/>
                </a:highlight>
                <a:latin typeface="Courier New"/>
                <a:ea typeface="Courier New"/>
                <a:cs typeface="Courier New"/>
                <a:sym typeface="Courier New"/>
              </a:rPr>
              <a:t>HOURS_WORKED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GB" sz="1050">
                <a:solidFill>
                  <a:srgbClr val="444746"/>
                </a:solidFill>
                <a:highlight>
                  <a:srgbClr val="DDE3EA"/>
                </a:highlight>
                <a:latin typeface="Courier New"/>
                <a:ea typeface="Courier New"/>
                <a:cs typeface="Courier New"/>
                <a:sym typeface="Courier New"/>
              </a:rPr>
              <a:t>HOURLY_RATE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GB" sz="1050">
                <a:solidFill>
                  <a:srgbClr val="444746"/>
                </a:solidFill>
                <a:highlight>
                  <a:srgbClr val="DDE3EA"/>
                </a:highlight>
                <a:latin typeface="Courier New"/>
                <a:ea typeface="Courier New"/>
                <a:cs typeface="Courier New"/>
                <a:sym typeface="Courier New"/>
              </a:rPr>
              <a:t>PAYMENT_TOTAL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Roboto"/>
              <a:buChar char="●"/>
            </a:pP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Automatic Decisions: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Rules auto-apply decisions (</a:t>
            </a:r>
            <a:r>
              <a:rPr lang="en-GB" sz="1050">
                <a:solidFill>
                  <a:srgbClr val="444746"/>
                </a:solidFill>
                <a:highlight>
                  <a:srgbClr val="DDE3EA"/>
                </a:highlight>
                <a:latin typeface="Courier New"/>
                <a:ea typeface="Courier New"/>
                <a:cs typeface="Courier New"/>
                <a:sym typeface="Courier New"/>
              </a:rPr>
              <a:t>VERIFIED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GB" sz="1050">
                <a:solidFill>
                  <a:srgbClr val="444746"/>
                </a:solidFill>
                <a:highlight>
                  <a:srgbClr val="DDE3EA"/>
                </a:highlight>
                <a:latin typeface="Courier New"/>
                <a:ea typeface="Courier New"/>
                <a:cs typeface="Courier New"/>
                <a:sym typeface="Courier New"/>
              </a:rPr>
              <a:t>APPROVED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or </a:t>
            </a:r>
            <a:r>
              <a:rPr lang="en-GB" sz="1050">
                <a:solidFill>
                  <a:srgbClr val="444746"/>
                </a:solidFill>
                <a:highlight>
                  <a:srgbClr val="DDE3EA"/>
                </a:highlight>
                <a:latin typeface="Courier New"/>
                <a:ea typeface="Courier New"/>
                <a:cs typeface="Courier New"/>
                <a:sym typeface="Courier New"/>
              </a:rPr>
              <a:t>REJECTED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 if the defined condition is met.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Roboto"/>
              <a:buChar char="●"/>
            </a:pP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Priority Management: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Higher priority rules can override decisions made by lower priority rules during a single run.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Roboto"/>
              <a:buChar char="●"/>
            </a:pP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HR Automation: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HR can run the Auto Review function on behalf of </a:t>
            </a:r>
            <a:r>
              <a:rPr i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all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reviewers, ensuring immediate processing of applicable claims without manual intervention.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Dramatically reduces manual review workload, allowing reviewers to focus only on complex or high-value claims, while ensuring immediate processing for routine claims.</a:t>
            </a:r>
            <a:endParaRPr/>
          </a:p>
        </p:txBody>
      </p:sp>
      <p:pic>
        <p:nvPicPr>
          <p:cNvPr id="128" name="Google Shape;128;p19"/>
          <p:cNvPicPr preferRelativeResize="0"/>
          <p:nvPr/>
        </p:nvPicPr>
        <p:blipFill rotWithShape="1">
          <a:blip r:embed="rId3">
            <a:alphaModFix/>
          </a:blip>
          <a:srcRect b="4194" l="0" r="0" t="22598"/>
          <a:stretch/>
        </p:blipFill>
        <p:spPr>
          <a:xfrm>
            <a:off x="4094800" y="2078875"/>
            <a:ext cx="5049200" cy="2079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HR Module: Seamless Financial Control</a:t>
            </a:r>
            <a:endParaRPr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729450" y="2078875"/>
            <a:ext cx="260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280273" lvl="0" marL="457200" rtl="0" algn="l"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Roboto"/>
              <a:buChar char="●"/>
            </a:pP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Comprehensive Management: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HR manages users, roles, modules, and sets lecturer hourly rates.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Roboto"/>
              <a:buChar char="●"/>
            </a:pP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Bulk Invoice Processing: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Button to </a:t>
            </a: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"Process All Invoices"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generates PDF invoices for all approved claims not yet invoiced.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Roboto"/>
              <a:buChar char="●"/>
            </a:pP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Secure Invoice Download: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Generated PDF invoices are encrypted for storage.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80273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Roboto"/>
              <a:buChar char="●"/>
            </a:pP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Operational Insight: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Dashboards provide an overview of approved claims and invoice status.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Centralizes administrative and financial control, providing a secure, auditable, and highly efficient mechanism for payroll and invoicing.</a:t>
            </a:r>
            <a:endParaRPr/>
          </a:p>
        </p:txBody>
      </p:sp>
      <p:pic>
        <p:nvPicPr>
          <p:cNvPr id="135" name="Google Shape;1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747" y="1853849"/>
            <a:ext cx="5937252" cy="312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Contract Monthly Claim System Advantage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5275" lvl="0" marL="457200" rtl="0" algn="l"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Secure: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Hashed passwords and encrypted file storage.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Automated: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Auto Review for expedited claim processing.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Transparent: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Clear, role-based dashboards and status tracking.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Efficient:</a:t>
            </a:r>
            <a:r>
              <a:rPr lang="en-GB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Real-time calculations and bulk invoice generation.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"Experience the next generation of contract claim management."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